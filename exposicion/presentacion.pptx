
<file path=[Content_Types].xml><?xml version="1.0" encoding="utf-8"?>
<Types xmlns="http://schemas.openxmlformats.org/package/2006/content-types">
  <Default Extension="wmf" ContentType="image/x-wmf"/>
  <Default Extension="png" ContentType="image/png"/>
  <Default Extension="jpg" ContentType="image/jpe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18.xml" ContentType="application/vnd.openxmlformats-officedocument.presentationml.notesSlide+xml"/>
  <Override PartName="/ppt/notesSlides/notesSlide15.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0.xml" ContentType="application/vnd.openxmlformats-officedocument.presentationml.notesSlide+xml"/>
  <Override PartName="/ppt/notesSlides/notesSlide20.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s/slide30.xml" ContentType="application/vnd.openxmlformats-officedocument.presentationml.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7.xml" ContentType="application/vnd.openxmlformats-officedocument.presentationml.slide+xml"/>
  <Override PartName="/ppt/slides/slide24.xml" ContentType="application/vnd.openxmlformats-officedocument.presentationml.slide+xml"/>
  <Override PartName="/ppt/notesSlides/notesSlide14.xml" ContentType="application/vnd.openxmlformats-officedocument.presentationml.notesSlide+xml"/>
  <Override PartName="/ppt/slides/slide23.xml" ContentType="application/vnd.openxmlformats-officedocument.presentationml.slide+xml"/>
  <Override PartName="/ppt/notesSlides/notesSlide2.xml" ContentType="application/vnd.openxmlformats-officedocument.presentationml.notesSlide+xml"/>
  <Override PartName="/ppt/slides/slide17.xml" ContentType="application/vnd.openxmlformats-officedocument.presentationml.slide+xml"/>
  <Override PartName="/ppt/notesSlides/notesSlide5.xml" ContentType="application/vnd.openxmlformats-officedocument.presentationml.notes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notesSlides/notesSlide16.xml" ContentType="application/vnd.openxmlformats-officedocument.presentationml.notesSlide+xml"/>
  <Override PartName="/ppt/slides/slide20.xml" ContentType="application/vnd.openxmlformats-officedocument.presentationml.slide+xml"/>
  <Override PartName="/ppt/slides/slide9.xml" ContentType="application/vnd.openxmlformats-officedocument.presentationml.slide+xml"/>
  <Override PartName="/ppt/slides/slide6.xml" ContentType="application/vnd.openxmlformats-officedocument.presentationml.slide+xml"/>
  <Override PartName="/ppt/notesSlides/notesSlide31.xml" ContentType="application/vnd.openxmlformats-officedocument.presentationml.notesSlide+xml"/>
  <Override PartName="/ppt/slides/slide10.xml" ContentType="application/vnd.openxmlformats-officedocument.presentationml.slide+xml"/>
  <Override PartName="/ppt/slides/slide3.xml" ContentType="application/vnd.openxmlformats-officedocument.presentationml.slide+xml"/>
  <Override PartName="/ppt/notesSlides/notesSlide21.xml" ContentType="application/vnd.openxmlformats-officedocument.presentationml.notesSlide+xml"/>
  <Override PartName="/ppt/slides/slide2.xml" ContentType="application/vnd.openxmlformats-officedocument.presentationml.slide+xml"/>
  <Override PartName="/ppt/slides/slide1.xml" ContentType="application/vnd.openxmlformats-officedocument.presentationml.slide+xml"/>
  <Override PartName="/ppt/slideLayouts/slideLayout10.xml" ContentType="application/vnd.openxmlformats-officedocument.presentationml.slideLayout+xml"/>
  <Override PartName="/ppt/slides/slide18.xml" ContentType="application/vnd.openxmlformats-officedocument.presentationml.slide+xml"/>
  <Override PartName="/ppt/slideLayouts/slideLayout4.xml" ContentType="application/vnd.openxmlformats-officedocument.presentationml.slideLayout+xml"/>
  <Override PartName="/ppt/notesSlides/notesSlide11.xml" ContentType="application/vnd.openxmlformats-officedocument.presentationml.notesSlide+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Slides/notesSlide7.xml" ContentType="application/vnd.openxmlformats-officedocument.presentationml.notesSlide+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2.xml" ContentType="application/vnd.openxmlformats-officedocument.theme+xml"/>
  <Override PartName="/ppt/notesSlides/notesSlide17.xml" ContentType="application/vnd.openxmlformats-officedocument.presentationml.notesSlide+xml"/>
  <Override PartName="/ppt/slides/slide8.xml" ContentType="application/vnd.openxmlformats-officedocument.presentationml.slide+xml"/>
  <Override PartName="/ppt/slideLayouts/slideLayout6.xml" ContentType="application/vnd.openxmlformats-officedocument.presentationml.slideLayout+xml"/>
  <Override PartName="/ppt/slides/slide22.xml" ContentType="application/vnd.openxmlformats-officedocument.presentationml.slide+xml"/>
  <Override PartName="/docProps/app.xml" ContentType="application/vnd.openxmlformats-officedocument.extended-properties+xml"/>
  <Override PartName="/ppt/slides/slide29.xml" ContentType="application/vnd.openxmlformats-officedocument.presentationml.slide+xml"/>
  <Override PartName="/ppt/slideLayouts/slideLayout5.xml" ContentType="application/vnd.openxmlformats-officedocument.presentationml.slideLayout+xml"/>
  <Override PartName="/ppt/slides/slide4.xml" ContentType="application/vnd.openxmlformats-officedocument.presentationml.slide+xml"/>
  <Override PartName="/ppt/slides/slide21.xml" ContentType="application/vnd.openxmlformats-officedocument.presentationml.slide+xml"/>
  <Override PartName="/docProps/core.xml" ContentType="application/vnd.openxmlformats-package.core-properties+xml"/>
  <Override PartName="/ppt/slides/slide19.xml" ContentType="application/vnd.openxmlformats-officedocument.presentationml.slide+xml"/>
  <Override PartName="/ppt/viewProps.xml" ContentType="application/vnd.openxmlformats-officedocument.presentationml.viewProps+xml"/>
  <Override PartName="/ppt/slides/slide11.xml" ContentType="application/vnd.openxmlformats-officedocument.presentationml.slide+xml"/>
  <Override PartName="/ppt/presProps.xml" ContentType="application/vnd.openxmlformats-officedocument.presentationml.presProps+xml"/>
  <Override PartName="/ppt/notesSlides/notesSlide8.xml" ContentType="application/vnd.openxmlformats-officedocument.presentationml.notesSlide+xml"/>
  <Override PartName="/ppt/slides/slide7.xml" ContentType="application/vnd.openxmlformats-officedocument.presentationml.slide+xml"/>
  <Override PartName="/ppt/slides/slide26.xml" ContentType="application/vnd.openxmlformats-officedocument.presentationml.slide+xml"/>
  <Override PartName="/ppt/slides/slide31.xml" ContentType="application/vnd.openxmlformats-officedocument.presentationml.slide+xml"/>
  <Override PartName="/ppt/slides/slide5.xml" ContentType="application/vnd.openxmlformats-officedocument.presentationml.slide+xml"/>
  <Override PartName="/ppt/slideMasters/slideMaster1.xml" ContentType="application/vnd.openxmlformats-officedocument.presentationml.slideMaster+xml"/>
  <Override PartName="/ppt/slides/slide25.xml" ContentType="application/vnd.openxmlformats-officedocument.presentationml.slide+xml"/>
  <Override PartName="/ppt/notesSlides/notesSlide30.xml" ContentType="application/vnd.openxmlformats-officedocument.presentationml.notesSlide+xml"/>
  <Override PartName="/ppt/notesSlides/notesSlide19.xml" ContentType="application/vnd.openxmlformats-officedocument.presentationml.notesSlide+xml"/>
  <Override PartName="/ppt/presentation.xml" ContentType="application/vnd.openxmlformats-officedocument.presentationml.presentation.main+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35"/>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Lst>
  <p:sldSz cx="12192000" cy="6858000"/>
  <p:notesSz cx="6858000" cy="9144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notesMaster" Target="notesMasters/notesMaster1.xml"/><Relationship Id="rId36" Type="http://schemas.openxmlformats.org/officeDocument/2006/relationships/presProps" Target="presProps.xml" /><Relationship Id="rId37" Type="http://schemas.openxmlformats.org/officeDocument/2006/relationships/tableStyles" Target="tableStyles.xml" /><Relationship Id="rId38"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4"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5"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a:xfrm>
            <a:off x="685800" y="1143000"/>
            <a:ext cx="5486400" cy="3086100"/>
          </a:xfrm>
        </p:spPr>
      </p:sp>
      <p:sp>
        <p:nvSpPr>
          <p:cNvPr id="3" name="Notes Placeholder 2"/>
          <p:cNvSpPr>
            <a:spLocks noGrp="1"/>
          </p:cNvSpPr>
          <p:nvPr>
            <p:ph type="body" idx="1"/>
          </p:nvPr>
        </p:nvSpPr>
        <p:spPr bwMode="auto"/>
        <p:txBody>
          <a:bodyPr/>
          <a:lstStyle/>
          <a:p>
            <a:pPr>
              <a:defRPr/>
            </a:pPr>
            <a:endParaRPr lang="en-US">
              <a:latin typeface="Arial"/>
              <a:cs typeface="Arial"/>
            </a:endParaRPr>
          </a:p>
        </p:txBody>
      </p:sp>
      <p:sp>
        <p:nvSpPr>
          <p:cNvPr id="4"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3583C52-B909-146B-4F5E-DE75210F64F7}" type="slidenum">
              <a:rPr/>
              <a:t/>
            </a:fld>
            <a:endParaRP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4AC1A7B-D209-9542-F2B2-1CCF78D5CF09}" type="slidenum">
              <a:rPr/>
              <a:t/>
            </a:fld>
            <a:endParaRP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0EE4609-0EF1-4642-5961-5A8E058A95FA}" type="slidenum">
              <a:rPr/>
              <a:t/>
            </a:fld>
            <a:endParaRP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E7C4AB7-E499-7A13-0B8F-4DF149AEB23B}" type="slidenum">
              <a:rPr/>
              <a:t/>
            </a:fld>
            <a:endParaRP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D12FB41-C93D-1A24-514D-F632A4586422}" type="slidenum">
              <a:rPr/>
              <a:t/>
            </a:fld>
            <a:endParaRP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0E0860D-ED22-E639-D021-2FD39E62848C}" type="slidenum">
              <a:rPr/>
              <a:t/>
            </a:fld>
            <a:endParaRP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99C4DF0-6441-D3C8-641D-65FAF3C62ABF}" type="slidenum">
              <a:rPr/>
              <a:t/>
            </a:fld>
            <a:endParaRP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2BD58B3-77C7-ECE0-E22A-051C12DDFBED}" type="slidenum">
              <a:rPr/>
              <a:t/>
            </a:fld>
            <a:endParaRP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BF445F8-B728-2093-F825-6530DAE80FC9}" type="slidenum">
              <a:rPr/>
              <a:t/>
            </a:fld>
            <a:endParaRP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4007E06-EF0E-D955-954B-FF23A5125D90}" type="slidenum">
              <a:rPr/>
              <a:t/>
            </a:fld>
            <a:endParaRP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D51E458-6D2F-AD4B-CBB0-8A5B43386DF0}" type="slidenum">
              <a:rPr/>
              <a:t/>
            </a:fld>
            <a:endParaRPr/>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70A5246-B68B-2812-42B5-9983A3964338}" type="slidenum">
              <a:rPr/>
              <a:t/>
            </a:fld>
            <a:endParaRPr/>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D5AB5CD-B44B-8216-8140-528B830B55C5}" type="slidenum">
              <a:rPr/>
              <a:t/>
            </a:fld>
            <a:endParaRPr/>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A5559DB-3BEB-192E-7750-3C17A5FBD4AA}" type="slidenum">
              <a:rPr/>
              <a:t/>
            </a:fld>
            <a:endParaRPr/>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5CE2D26-6C06-9735-AD92-1033EFC1D1D0}" type="slidenum">
              <a:rPr/>
              <a:t/>
            </a:fld>
            <a:endParaRPr/>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FF42EA9-A63D-77E2-4E3B-2AEF2FC1324A}" type="slidenum">
              <a:rPr/>
              <a:t/>
            </a:fld>
            <a:endParaRPr/>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7F07C69-6644-8778-B1D6-678E9DD3C6DD}" type="slidenum">
              <a:rPr/>
              <a:t/>
            </a:fld>
            <a:endParaRPr/>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CF5A933-1EA7-0F9A-0D55-10E1DF3DD008}" type="slidenum">
              <a:rPr/>
              <a:t/>
            </a:fld>
            <a:endParaRPr/>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9563A67-53B1-C5CB-6C30-4F1B2067087D}" type="slidenum">
              <a:rPr/>
              <a:t/>
            </a:fld>
            <a:endParaRPr/>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7E44BF7-F83C-B3E2-DE7B-B4E029037884}" type="slidenum">
              <a:rPr/>
              <a:t/>
            </a:fld>
            <a:endParaRPr/>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41BFF8F-7410-E437-83BA-07185EE6A106}" type="slidenum">
              <a:rPr/>
              <a:t/>
            </a:fld>
            <a:endParaRPr/>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131C859-C199-F3DB-8672-29D41370AF2A}" type="slidenum">
              <a:rPr/>
              <a:t/>
            </a:fld>
            <a:endParaRPr/>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171C951-0314-E509-B94A-7447D4B48842}" type="slidenum">
              <a:rPr/>
              <a:t/>
            </a:fld>
            <a:endParaRPr/>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C8BC9F2-4F93-079B-FC97-028D62261BA3}" type="slidenum">
              <a:rPr/>
              <a:t/>
            </a:fld>
            <a:endParaRPr/>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6ECAD4C-C998-11BB-3B97-29B07600B099}" type="slidenum">
              <a:rPr/>
              <a:t/>
            </a:fld>
            <a:endParaRPr/>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1828804-8704-9EDD-6D6B-C41DC5BEF402}" type="slidenum">
              <a:rPr/>
              <a:t/>
            </a:fld>
            <a:endParaRPr/>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67EE514-FB8A-EB3D-AAEE-E01DD85AB579}" type="slidenum">
              <a:rPr/>
              <a:t/>
            </a:fld>
            <a:endParaRPr/>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63A14A1-53F6-AB36-C1DE-41DE07B18279}" type="slidenum">
              <a:rPr/>
              <a:t/>
            </a:fld>
            <a:endParaRPr/>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1B7EAA0-2F37-0BF3-2C5A-118039CE3EB6}" type="slidenum">
              <a:rPr/>
              <a:t/>
            </a:fld>
            <a:endParaRPr/>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A8BE3E0-764C-1333-EF41-914406FDD7B1}" type="slidenum">
              <a:rPr/>
              <a:t/>
            </a:fld>
            <a:endParaRP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3"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US"/>
          </a:p>
        </p:txBody>
      </p:sp>
      <p:sp>
        <p:nvSpPr>
          <p:cNvPr id="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3"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US"/>
          </a:p>
        </p:txBody>
      </p:sp>
      <p:sp>
        <p:nvSpPr>
          <p:cNvPr id="3"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US"/>
          </a:p>
        </p:txBody>
      </p:sp>
      <p:sp>
        <p:nvSpPr>
          <p:cNvPr id="3"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4"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6"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 name="Date Placeholder 6"/>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8" name="Footer Placeholder 7"/>
          <p:cNvSpPr>
            <a:spLocks noGrp="1"/>
          </p:cNvSpPr>
          <p:nvPr>
            <p:ph type="ftr" sz="quarter" idx="11"/>
          </p:nvPr>
        </p:nvSpPr>
        <p:spPr bwMode="auto"/>
        <p:txBody>
          <a:bodyPr/>
          <a:lstStyle/>
          <a:p>
            <a:pPr>
              <a:defRPr/>
            </a:pPr>
            <a:endParaRPr lang="en-US"/>
          </a:p>
        </p:txBody>
      </p:sp>
      <p:sp>
        <p:nvSpPr>
          <p:cNvPr id="9"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US"/>
          </a:p>
        </p:txBody>
      </p:sp>
      <p:sp>
        <p:nvSpPr>
          <p:cNvPr id="3" name="Date Placeholder 2"/>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4" name="Footer Placeholder 3"/>
          <p:cNvSpPr>
            <a:spLocks noGrp="1"/>
          </p:cNvSpPr>
          <p:nvPr>
            <p:ph type="ftr" sz="quarter" idx="11"/>
          </p:nvPr>
        </p:nvSpPr>
        <p:spPr bwMode="auto"/>
        <p:txBody>
          <a:bodyPr/>
          <a:lstStyle/>
          <a:p>
            <a:pPr>
              <a:defRPr/>
            </a:pPr>
            <a:endParaRPr lang="en-US"/>
          </a:p>
        </p:txBody>
      </p:sp>
      <p:sp>
        <p:nvSpPr>
          <p:cNvPr id="5"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2" name="Date Placeholder 1"/>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3" name="Footer Placeholder 2"/>
          <p:cNvSpPr>
            <a:spLocks noGrp="1"/>
          </p:cNvSpPr>
          <p:nvPr>
            <p:ph type="ftr" sz="quarter" idx="11"/>
          </p:nvPr>
        </p:nvSpPr>
        <p:spPr bwMode="auto"/>
        <p:txBody>
          <a:bodyPr/>
          <a:lstStyle/>
          <a:p>
            <a:pPr>
              <a:defRPr/>
            </a:pPr>
            <a:endParaRPr lang="en-US"/>
          </a:p>
        </p:txBody>
      </p:sp>
      <p:sp>
        <p:nvSpPr>
          <p:cNvPr id="4"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3"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3"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US"/>
          </a:p>
        </p:txBody>
      </p:sp>
      <p:sp>
        <p:nvSpPr>
          <p:cNvPr id="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2"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US"/>
          </a:p>
        </p:txBody>
      </p:sp>
      <p:sp>
        <p:nvSpPr>
          <p:cNvPr id="3"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3"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30.10.2013</a:t>
            </a:fld>
            <a:endParaRPr lang="en-US"/>
          </a:p>
        </p:txBody>
      </p:sp>
      <p:sp>
        <p:nvSpPr>
          <p:cNvPr id="5"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jp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p:txBody>
          <a:bodyPr/>
          <a:lstStyle/>
          <a:p>
            <a:pPr>
              <a:defRPr/>
            </a:pPr>
            <a:r>
              <a:rPr lang="es-MX"/>
              <a:t>Trie, Radix Trie</a:t>
            </a:r>
            <a:endParaRPr lang="en-US"/>
          </a:p>
        </p:txBody>
      </p:sp>
      <p:sp>
        <p:nvSpPr>
          <p:cNvPr id="3" name="Subtitle 2"/>
          <p:cNvSpPr>
            <a:spLocks noGrp="1"/>
          </p:cNvSpPr>
          <p:nvPr>
            <p:ph type="subTitle" idx="1"/>
          </p:nvPr>
        </p:nvSpPr>
        <p:spPr bwMode="auto"/>
        <p:txBody>
          <a:bodyPr/>
          <a:lstStyle/>
          <a:p>
            <a:pPr>
              <a:defRPr/>
            </a:pPr>
            <a:r>
              <a:rPr lang="es-MX"/>
              <a:t>Uriel Balderas Aguilar</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7104103" name="Title 1"/>
          <p:cNvSpPr>
            <a:spLocks noGrp="1"/>
          </p:cNvSpPr>
          <p:nvPr>
            <p:ph type="title"/>
          </p:nvPr>
        </p:nvSpPr>
        <p:spPr bwMode="auto"/>
        <p:txBody>
          <a:bodyPr/>
          <a:lstStyle/>
          <a:p>
            <a:pPr>
              <a:defRPr/>
            </a:pPr>
            <a:r>
              <a:rPr lang="es-MX"/>
              <a:t>En el inicio...</a:t>
            </a:r>
            <a:endParaRPr/>
          </a:p>
        </p:txBody>
      </p:sp>
      <p:sp>
        <p:nvSpPr>
          <p:cNvPr id="1481670284" name="Content Placeholder 2"/>
          <p:cNvSpPr>
            <a:spLocks noGrp="1"/>
          </p:cNvSpPr>
          <p:nvPr>
            <p:ph idx="1"/>
          </p:nvPr>
        </p:nvSpPr>
        <p:spPr bwMode="auto"/>
        <p:txBody>
          <a:bodyPr/>
          <a:lstStyle/>
          <a:p>
            <a:pPr marL="0" indent="0">
              <a:buFont typeface="Arial"/>
              <a:buNone/>
              <a:defRPr/>
            </a:pPr>
            <a:r>
              <a:rPr lang="es-MX"/>
              <a:t>No había un Trie, por lo que la mejor alternativa (hasta el momento de su creación) eran los Árboles Binarios de Busqueda</a:t>
            </a:r>
            <a:endParaRPr/>
          </a:p>
        </p:txBody>
      </p:sp>
      <p:pic>
        <p:nvPicPr>
          <p:cNvPr id="19501007" name=""/>
          <p:cNvPicPr>
            <a:picLocks noChangeAspect="1"/>
          </p:cNvPicPr>
          <p:nvPr/>
        </p:nvPicPr>
        <p:blipFill>
          <a:blip r:embed="rId3"/>
          <a:stretch/>
        </p:blipFill>
        <p:spPr bwMode="auto">
          <a:xfrm flipH="0" flipV="0">
            <a:off x="2952781" y="2790729"/>
            <a:ext cx="6286436" cy="326203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00751416" name="Title 1"/>
          <p:cNvSpPr>
            <a:spLocks noGrp="1"/>
          </p:cNvSpPr>
          <p:nvPr>
            <p:ph type="title"/>
          </p:nvPr>
        </p:nvSpPr>
        <p:spPr bwMode="auto"/>
        <p:txBody>
          <a:bodyPr/>
          <a:lstStyle/>
          <a:p>
            <a:pPr>
              <a:defRPr/>
            </a:pPr>
            <a:r>
              <a:rPr lang="es-MX"/>
              <a:t>Arbol Binario de Busqueda</a:t>
            </a:r>
            <a:endParaRPr/>
          </a:p>
        </p:txBody>
      </p:sp>
      <p:sp>
        <p:nvSpPr>
          <p:cNvPr id="2090463584" name="Content Placeholder 2"/>
          <p:cNvSpPr>
            <a:spLocks noGrp="1"/>
          </p:cNvSpPr>
          <p:nvPr>
            <p:ph idx="1"/>
          </p:nvPr>
        </p:nvSpPr>
        <p:spPr bwMode="auto"/>
        <p:txBody>
          <a:bodyPr/>
          <a:lstStyle/>
          <a:p>
            <a:pPr marL="0" indent="0">
              <a:buFont typeface="Arial"/>
              <a:buNone/>
              <a:defRPr/>
            </a:pPr>
            <a:r>
              <a:rPr lang="es-MX"/>
              <a:t>Eran la mejor opción, porque aseguran un tiempo </a:t>
            </a:r>
            <a:r>
              <a:rPr lang="es-MX" sz="2800" b="0" i="0" u="none" strike="noStrike" cap="none" spc="0">
                <a:solidFill>
                  <a:schemeClr val="tx1"/>
                </a:solidFill>
                <a:latin typeface="+mn-lt"/>
                <a:ea typeface="+mn-ea"/>
                <a:cs typeface="+mn-cs"/>
              </a:rPr>
              <a:t>O( log n )</a:t>
            </a:r>
            <a:r>
              <a:rPr lang="es-MX"/>
              <a:t> para las operaciones más importantes:</a:t>
            </a:r>
            <a:endParaRPr lang="es-MX"/>
          </a:p>
          <a:p>
            <a:pPr>
              <a:defRPr/>
            </a:pPr>
            <a:r>
              <a:rPr lang="es-MX"/>
              <a:t>Inserción</a:t>
            </a:r>
            <a:endParaRPr lang="es-MX"/>
          </a:p>
          <a:p>
            <a:pPr>
              <a:defRPr/>
            </a:pPr>
            <a:r>
              <a:rPr lang="es-MX"/>
              <a:t>Busqueda</a:t>
            </a:r>
            <a:endParaRPr lang="es-MX"/>
          </a:p>
          <a:p>
            <a:pPr>
              <a:defRPr/>
            </a:pPr>
            <a:r>
              <a:rPr lang="es-MX"/>
              <a:t>Eliminación</a:t>
            </a:r>
            <a:endParaRPr lang="es-MX"/>
          </a:p>
          <a:p>
            <a:pPr marL="0" indent="0">
              <a:buFont typeface="Arial"/>
              <a:buNone/>
              <a:defRPr/>
            </a:pPr>
            <a:r>
              <a:rPr lang="es-MX"/>
              <a:t>Con n la cantidad de claves contendias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07493" name="Title 1"/>
          <p:cNvSpPr>
            <a:spLocks noGrp="1"/>
          </p:cNvSpPr>
          <p:nvPr>
            <p:ph type="title"/>
          </p:nvPr>
        </p:nvSpPr>
        <p:spPr bwMode="auto"/>
        <p:txBody>
          <a:bodyPr/>
          <a:lstStyle/>
          <a:p>
            <a:pPr>
              <a:defRPr/>
            </a:pPr>
            <a:r>
              <a:rPr lang="es-MX"/>
              <a:t>Informacion Adicional</a:t>
            </a:r>
            <a:endParaRPr/>
          </a:p>
        </p:txBody>
      </p:sp>
      <p:sp>
        <p:nvSpPr>
          <p:cNvPr id="1138058697" name="Content Placeholder 2"/>
          <p:cNvSpPr>
            <a:spLocks noGrp="1"/>
          </p:cNvSpPr>
          <p:nvPr>
            <p:ph idx="1"/>
          </p:nvPr>
        </p:nvSpPr>
        <p:spPr bwMode="auto"/>
        <p:txBody>
          <a:bodyPr/>
          <a:lstStyle/>
          <a:p>
            <a:pPr marL="0" indent="0">
              <a:buFont typeface="Arial"/>
              <a:buNone/>
              <a:defRPr/>
            </a:pPr>
            <a:r>
              <a:rPr lang="es-MX"/>
              <a:t>Y este es un buen primer boceto para una estructura general, sin embargo, ¿es igual cuando conocemos cosas de nuestros datos?</a:t>
            </a:r>
            <a:endParaRPr lang="es-MX"/>
          </a:p>
        </p:txBody>
      </p:sp>
      <p:pic>
        <p:nvPicPr>
          <p:cNvPr id="523276767" name=""/>
          <p:cNvPicPr>
            <a:picLocks noChangeAspect="1"/>
          </p:cNvPicPr>
          <p:nvPr/>
        </p:nvPicPr>
        <p:blipFill>
          <a:blip r:embed="rId3"/>
          <a:stretch/>
        </p:blipFill>
        <p:spPr bwMode="auto">
          <a:xfrm flipH="0" flipV="0">
            <a:off x="3042882" y="3170884"/>
            <a:ext cx="6106235" cy="306731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5890490" name="Title 1"/>
          <p:cNvSpPr>
            <a:spLocks noGrp="1"/>
          </p:cNvSpPr>
          <p:nvPr>
            <p:ph type="title"/>
          </p:nvPr>
        </p:nvSpPr>
        <p:spPr bwMode="auto"/>
        <p:txBody>
          <a:bodyPr/>
          <a:lstStyle/>
          <a:p>
            <a:pPr>
              <a:defRPr/>
            </a:pPr>
            <a:r>
              <a:rPr lang="es-MX"/>
              <a:t>String</a:t>
            </a:r>
            <a:endParaRPr/>
          </a:p>
        </p:txBody>
      </p:sp>
      <p:sp>
        <p:nvSpPr>
          <p:cNvPr id="797646907" name="Content Placeholder 2"/>
          <p:cNvSpPr>
            <a:spLocks noGrp="1"/>
          </p:cNvSpPr>
          <p:nvPr>
            <p:ph idx="1"/>
          </p:nvPr>
        </p:nvSpPr>
        <p:spPr bwMode="auto"/>
        <p:txBody>
          <a:bodyPr/>
          <a:lstStyle/>
          <a:p>
            <a:pPr marL="0" indent="0">
              <a:buFont typeface="Arial"/>
              <a:buNone/>
              <a:defRPr/>
            </a:pPr>
            <a:r>
              <a:rPr lang="es-MX"/>
              <a:t>Consideremos por ejemplo, datos que son únicamente Strings, ¿siguen siendo optimos los BST para almacenarlos?</a:t>
            </a:r>
            <a:endParaRPr lang="es-MX"/>
          </a:p>
          <a:p>
            <a:pPr marL="0" indent="0">
              <a:buFont typeface="Arial"/>
              <a:buNone/>
              <a:defRPr/>
            </a:pPr>
            <a:endParaRPr/>
          </a:p>
          <a:p>
            <a:pPr marL="0" indent="0">
              <a:buFont typeface="Arial"/>
              <a:buNone/>
              <a:defRPr/>
            </a:pPr>
            <a:r>
              <a:rPr lang="es-MX"/>
              <a:t>Podemos asumir cada nodo del BST como una palabra completa, sin embargo, rapidamente podemos ver que quizá no sea lo mas optimo.</a:t>
            </a:r>
            <a:endParaRPr/>
          </a:p>
        </p:txBody>
      </p:sp>
      <p:pic>
        <p:nvPicPr>
          <p:cNvPr id="155677233" name=""/>
          <p:cNvPicPr>
            <a:picLocks noChangeAspect="1"/>
          </p:cNvPicPr>
          <p:nvPr/>
        </p:nvPicPr>
        <p:blipFill>
          <a:blip r:embed="rId3"/>
          <a:stretch/>
        </p:blipFill>
        <p:spPr bwMode="auto">
          <a:xfrm flipH="0" flipV="0">
            <a:off x="3688113" y="4001293"/>
            <a:ext cx="4815772" cy="28298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74339555" name="Title 1"/>
          <p:cNvSpPr>
            <a:spLocks noGrp="1"/>
          </p:cNvSpPr>
          <p:nvPr>
            <p:ph type="title"/>
          </p:nvPr>
        </p:nvSpPr>
        <p:spPr bwMode="auto"/>
        <p:txBody>
          <a:bodyPr/>
          <a:lstStyle/>
          <a:p>
            <a:pPr>
              <a:defRPr/>
            </a:pPr>
            <a:r>
              <a:rPr lang="es-MX"/>
              <a:t>Ejemplo de ineficiencia</a:t>
            </a:r>
            <a:endParaRPr/>
          </a:p>
        </p:txBody>
      </p:sp>
      <p:sp>
        <p:nvSpPr>
          <p:cNvPr id="1208168451" name="Content Placeholder 2"/>
          <p:cNvSpPr>
            <a:spLocks noGrp="1"/>
          </p:cNvSpPr>
          <p:nvPr>
            <p:ph idx="1"/>
          </p:nvPr>
        </p:nvSpPr>
        <p:spPr bwMode="auto"/>
        <p:txBody>
          <a:bodyPr/>
          <a:lstStyle/>
          <a:p>
            <a:pPr marL="0" indent="0">
              <a:buFont typeface="Arial"/>
              <a:buNone/>
              <a:defRPr/>
            </a:pPr>
            <a:r>
              <a:rPr lang="es-MX"/>
              <a:t>Considerando un arbol ya hecho, para lograr diferenciar las palabras almacen y almanaque, no es sino hasta la quinta letra que podemos diferenciarlas... Buscar se vuelve costoso</a:t>
            </a:r>
            <a:endParaRPr/>
          </a:p>
        </p:txBody>
      </p:sp>
      <p:pic>
        <p:nvPicPr>
          <p:cNvPr id="1770741287" name=""/>
          <p:cNvPicPr>
            <a:picLocks noChangeAspect="1"/>
          </p:cNvPicPr>
          <p:nvPr/>
        </p:nvPicPr>
        <p:blipFill>
          <a:blip r:embed="rId3"/>
          <a:stretch/>
        </p:blipFill>
        <p:spPr bwMode="auto">
          <a:xfrm flipH="0" flipV="0">
            <a:off x="3604502" y="3128492"/>
            <a:ext cx="4982993" cy="325728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92305028" name="Title 1"/>
          <p:cNvSpPr>
            <a:spLocks noGrp="1"/>
          </p:cNvSpPr>
          <p:nvPr>
            <p:ph type="title"/>
          </p:nvPr>
        </p:nvSpPr>
        <p:spPr bwMode="auto"/>
        <p:txBody>
          <a:bodyPr/>
          <a:lstStyle/>
          <a:p>
            <a:pPr>
              <a:defRPr/>
            </a:pPr>
            <a:r>
              <a:rPr lang="es-MX"/>
              <a:t>A comprimir</a:t>
            </a:r>
            <a:endParaRPr/>
          </a:p>
        </p:txBody>
      </p:sp>
      <p:sp>
        <p:nvSpPr>
          <p:cNvPr id="260626873" name="Content Placeholder 2"/>
          <p:cNvSpPr>
            <a:spLocks noGrp="1"/>
          </p:cNvSpPr>
          <p:nvPr>
            <p:ph idx="1"/>
          </p:nvPr>
        </p:nvSpPr>
        <p:spPr bwMode="auto"/>
        <p:txBody>
          <a:bodyPr/>
          <a:lstStyle/>
          <a:p>
            <a:pPr marL="0" indent="0">
              <a:buFont typeface="Arial"/>
              <a:buNone/>
              <a:defRPr/>
            </a:pPr>
            <a:r>
              <a:rPr lang="es-MX"/>
              <a:t>Como podemos ver, la ineficiencia llega de realizar multiples comparaciones entre palabras similares; mismas que consideramos similares por tener inicios iguales.</a:t>
            </a:r>
            <a:endParaRPr lang="es-MX"/>
          </a:p>
          <a:p>
            <a:pPr marL="0" indent="0">
              <a:buFont typeface="Arial"/>
              <a:buNone/>
              <a:defRPr/>
            </a:pPr>
            <a:r>
              <a:rPr lang="es-MX"/>
              <a:t>Si lograramos que todas las palabras con prefijo similar desprendieran de este...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80195657" name="Title 1"/>
          <p:cNvSpPr>
            <a:spLocks noGrp="1"/>
          </p:cNvSpPr>
          <p:nvPr>
            <p:ph type="title"/>
          </p:nvPr>
        </p:nvSpPr>
        <p:spPr bwMode="auto"/>
        <p:txBody>
          <a:bodyPr/>
          <a:lstStyle/>
          <a:p>
            <a:pPr>
              <a:defRPr/>
            </a:pPr>
            <a:r>
              <a:rPr lang="es-MX" b="0"/>
              <a:t>TRIE </a:t>
            </a:r>
            <a:r>
              <a:rPr lang="es-MX" b="0" i="0"/>
              <a:t>buscando en Strings desde 1959</a:t>
            </a:r>
            <a:endParaRPr b="0"/>
          </a:p>
        </p:txBody>
      </p:sp>
      <p:pic>
        <p:nvPicPr>
          <p:cNvPr id="895579149" name=""/>
          <p:cNvPicPr>
            <a:picLocks noChangeAspect="1"/>
          </p:cNvPicPr>
          <p:nvPr/>
        </p:nvPicPr>
        <p:blipFill>
          <a:blip r:embed="rId3"/>
          <a:stretch/>
        </p:blipFill>
        <p:spPr bwMode="auto">
          <a:xfrm flipH="0" flipV="0">
            <a:off x="1941807" y="1690687"/>
            <a:ext cx="8308383" cy="46682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0755036" name="Title 1"/>
          <p:cNvSpPr>
            <a:spLocks noGrp="1"/>
          </p:cNvSpPr>
          <p:nvPr>
            <p:ph type="title"/>
          </p:nvPr>
        </p:nvSpPr>
        <p:spPr bwMode="auto"/>
        <p:txBody>
          <a:bodyPr/>
          <a:lstStyle/>
          <a:p>
            <a:pPr>
              <a:defRPr/>
            </a:pPr>
            <a:r>
              <a:rPr lang="es-MX"/>
              <a:t>Trie</a:t>
            </a:r>
            <a:endParaRPr/>
          </a:p>
        </p:txBody>
      </p:sp>
      <p:sp>
        <p:nvSpPr>
          <p:cNvPr id="1063940079" name="Content Placeholder 2"/>
          <p:cNvSpPr>
            <a:spLocks noGrp="1"/>
          </p:cNvSpPr>
          <p:nvPr>
            <p:ph idx="1"/>
          </p:nvPr>
        </p:nvSpPr>
        <p:spPr bwMode="auto"/>
        <p:txBody>
          <a:bodyPr/>
          <a:lstStyle/>
          <a:p>
            <a:pPr marL="0" indent="0">
              <a:buFont typeface="Arial"/>
              <a:buNone/>
              <a:defRPr/>
            </a:pPr>
            <a:r>
              <a:rPr lang="es-MX" b="0" i="0"/>
              <a:t>Pronunciado </a:t>
            </a:r>
            <a:r>
              <a:rPr lang="es-MX" b="0" i="1"/>
              <a:t>“try”</a:t>
            </a:r>
            <a:r>
              <a:rPr lang="es-MX" b="0" i="0"/>
              <a:t> por su similitud a </a:t>
            </a:r>
            <a:r>
              <a:rPr lang="es-MX" b="0" i="1"/>
              <a:t>“tree”, </a:t>
            </a:r>
            <a:r>
              <a:rPr lang="es-MX" b="0" i="0"/>
              <a:t>y su uso designado a operaciones </a:t>
            </a:r>
            <a:r>
              <a:rPr lang="es-MX" b="0" i="1"/>
              <a:t>“retrieval”</a:t>
            </a:r>
            <a:r>
              <a:rPr lang="es-MX" b="0" i="0"/>
              <a:t>, se diseña para buscar de forma compacta y eficiente de realizar Strings</a:t>
            </a:r>
            <a:endParaRPr lang="es-MX" b="0" i="0"/>
          </a:p>
          <a:p>
            <a:pPr marL="0" indent="0">
              <a:buFont typeface="Arial"/>
              <a:buNone/>
              <a:defRPr/>
            </a:pPr>
            <a:endParaRPr/>
          </a:p>
          <a:p>
            <a:pPr marL="0" indent="0">
              <a:buFont typeface="Arial"/>
              <a:buNone/>
              <a:defRPr/>
            </a:pPr>
            <a:r>
              <a:rPr lang="es-MX" b="0" i="0"/>
              <a:t>Su poder: almacenar prefijos comunes una única vez</a:t>
            </a:r>
            <a:endParaRPr/>
          </a:p>
        </p:txBody>
      </p:sp>
      <p:pic>
        <p:nvPicPr>
          <p:cNvPr id="1150017227" name=""/>
          <p:cNvPicPr>
            <a:picLocks noChangeAspect="1"/>
          </p:cNvPicPr>
          <p:nvPr/>
        </p:nvPicPr>
        <p:blipFill>
          <a:blip r:embed="rId3"/>
          <a:stretch/>
        </p:blipFill>
        <p:spPr bwMode="auto">
          <a:xfrm flipH="0" flipV="0">
            <a:off x="8976337" y="4403758"/>
            <a:ext cx="3211872" cy="247401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7497650" name="Title 1"/>
          <p:cNvSpPr>
            <a:spLocks noGrp="1"/>
          </p:cNvSpPr>
          <p:nvPr>
            <p:ph type="title"/>
          </p:nvPr>
        </p:nvSpPr>
        <p:spPr bwMode="auto"/>
        <p:txBody>
          <a:bodyPr/>
          <a:lstStyle/>
          <a:p>
            <a:pPr>
              <a:defRPr/>
            </a:pPr>
            <a:r>
              <a:rPr lang="es-MX"/>
              <a:t>Trie &gt;&gt;&gt; BST</a:t>
            </a:r>
            <a:endParaRPr/>
          </a:p>
        </p:txBody>
      </p:sp>
      <p:sp>
        <p:nvSpPr>
          <p:cNvPr id="2140896522" name="Content Placeholder 2"/>
          <p:cNvSpPr>
            <a:spLocks noGrp="1"/>
          </p:cNvSpPr>
          <p:nvPr>
            <p:ph idx="1"/>
          </p:nvPr>
        </p:nvSpPr>
        <p:spPr bwMode="auto"/>
        <p:txBody>
          <a:bodyPr/>
          <a:lstStyle/>
          <a:p>
            <a:pPr marL="0" indent="0">
              <a:buFont typeface="Arial"/>
              <a:buNone/>
              <a:defRPr/>
            </a:pPr>
            <a:r>
              <a:rPr lang="es-MX"/>
              <a:t>Anteriormente habíamos considerado a los BST como primer solución, sin embargo, no es eficiente, pues en su lugar sería preferible un arbol k-ario, con k la cantidad de simbolos en el alfabeto que usan nuestros datos String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07254454" name="Title 1"/>
          <p:cNvSpPr>
            <a:spLocks noGrp="1"/>
          </p:cNvSpPr>
          <p:nvPr>
            <p:ph type="title"/>
          </p:nvPr>
        </p:nvSpPr>
        <p:spPr bwMode="auto"/>
        <p:txBody>
          <a:bodyPr/>
          <a:lstStyle/>
          <a:p>
            <a:pPr>
              <a:defRPr/>
            </a:pPr>
            <a:r>
              <a:rPr lang="es-MX"/>
              <a:t>Arbol k-ario</a:t>
            </a:r>
            <a:endParaRPr/>
          </a:p>
        </p:txBody>
      </p:sp>
      <p:sp>
        <p:nvSpPr>
          <p:cNvPr id="833369956" name="Content Placeholder 2"/>
          <p:cNvSpPr>
            <a:spLocks noGrp="1"/>
          </p:cNvSpPr>
          <p:nvPr>
            <p:ph idx="1"/>
          </p:nvPr>
        </p:nvSpPr>
        <p:spPr bwMode="auto"/>
        <p:txBody>
          <a:bodyPr/>
          <a:lstStyle/>
          <a:p>
            <a:pPr marL="0" indent="0">
              <a:buFont typeface="Arial"/>
              <a:buNone/>
              <a:defRPr/>
            </a:pPr>
            <a:r>
              <a:rPr lang="es-MX"/>
              <a:t>Gracias a esta estructura, ya no es necesario hacer tantas comparaciones por cada palabra, sino que conforme identificamos un caracter, avanzamos a travéz del camino que se le asignó</a:t>
            </a:r>
            <a:endParaRPr/>
          </a:p>
        </p:txBody>
      </p:sp>
      <p:pic>
        <p:nvPicPr>
          <p:cNvPr id="168499264" name=""/>
          <p:cNvPicPr>
            <a:picLocks noChangeAspect="1"/>
          </p:cNvPicPr>
          <p:nvPr/>
        </p:nvPicPr>
        <p:blipFill>
          <a:blip r:embed="rId3"/>
          <a:stretch/>
        </p:blipFill>
        <p:spPr bwMode="auto">
          <a:xfrm flipH="0" flipV="0">
            <a:off x="3883168" y="3125809"/>
            <a:ext cx="4425662" cy="320898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47673740" name="Title 1"/>
          <p:cNvSpPr>
            <a:spLocks noGrp="1"/>
          </p:cNvSpPr>
          <p:nvPr>
            <p:ph type="title"/>
          </p:nvPr>
        </p:nvSpPr>
        <p:spPr bwMode="auto"/>
        <p:txBody>
          <a:bodyPr/>
          <a:lstStyle/>
          <a:p>
            <a:pPr>
              <a:defRPr/>
            </a:pPr>
            <a:r>
              <a:rPr lang="es-MX"/>
              <a:t>Estructura</a:t>
            </a:r>
            <a:endParaRPr/>
          </a:p>
        </p:txBody>
      </p:sp>
      <p:sp>
        <p:nvSpPr>
          <p:cNvPr id="1145827788" name="Content Placeholder 2"/>
          <p:cNvSpPr>
            <a:spLocks noGrp="1"/>
          </p:cNvSpPr>
          <p:nvPr>
            <p:ph idx="1"/>
          </p:nvPr>
        </p:nvSpPr>
        <p:spPr bwMode="auto"/>
        <p:txBody>
          <a:bodyPr/>
          <a:lstStyle/>
          <a:p>
            <a:pPr marL="0" indent="0">
              <a:buFont typeface="Arial"/>
              <a:buNone/>
              <a:defRPr/>
            </a:pPr>
            <a:r>
              <a:rPr lang="es-MX"/>
              <a:t>Es de notar, que en este caso, la mayoría de la infromación se encuentra en las aristas y no en los nodos, como suele ser el caso, pues los nodos solo sirven como indicador de clave encontrada (en lo general, todo nodo hoja debería ser nodo clave)</a:t>
            </a:r>
            <a:endParaRPr/>
          </a:p>
        </p:txBody>
      </p:sp>
      <p:pic>
        <p:nvPicPr>
          <p:cNvPr id="1377969484" name=""/>
          <p:cNvPicPr>
            <a:picLocks noChangeAspect="1"/>
          </p:cNvPicPr>
          <p:nvPr/>
        </p:nvPicPr>
        <p:blipFill>
          <a:blip r:embed="rId3"/>
          <a:stretch/>
        </p:blipFill>
        <p:spPr bwMode="auto">
          <a:xfrm flipH="0" flipV="0">
            <a:off x="3623555" y="3429000"/>
            <a:ext cx="4944887" cy="330440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0982954" name="Title 1"/>
          <p:cNvSpPr>
            <a:spLocks noGrp="1"/>
          </p:cNvSpPr>
          <p:nvPr>
            <p:ph type="title"/>
          </p:nvPr>
        </p:nvSpPr>
        <p:spPr bwMode="auto"/>
        <p:txBody>
          <a:bodyPr/>
          <a:lstStyle/>
          <a:p>
            <a:pPr>
              <a:defRPr/>
            </a:pPr>
            <a:r>
              <a:rPr lang="es-MX"/>
              <a:t>¿En serio esto es mejor?</a:t>
            </a:r>
            <a:endParaRPr/>
          </a:p>
        </p:txBody>
      </p:sp>
      <p:sp>
        <p:nvSpPr>
          <p:cNvPr id="2111189090" name="Content Placeholder 2"/>
          <p:cNvSpPr>
            <a:spLocks noGrp="1"/>
          </p:cNvSpPr>
          <p:nvPr>
            <p:ph idx="1"/>
          </p:nvPr>
        </p:nvSpPr>
        <p:spPr bwMode="auto"/>
        <p:txBody>
          <a:bodyPr/>
          <a:lstStyle/>
          <a:p>
            <a:pPr marL="0" indent="0">
              <a:buFont typeface="Arial"/>
              <a:buNone/>
              <a:defRPr/>
            </a:pPr>
            <a:r>
              <a:rPr lang="es-MX"/>
              <a:t>Depende de la cantidad de claves almacenadas.</a:t>
            </a:r>
            <a:endParaRPr lang="es-MX"/>
          </a:p>
          <a:p>
            <a:pPr marL="0" indent="0">
              <a:buFont typeface="Arial"/>
              <a:buNone/>
              <a:defRPr/>
            </a:pPr>
            <a:r>
              <a:rPr lang="es-MX"/>
              <a:t>Si es una cantidad muy baja, BST gana en eficiencia de memoria, sin embargo comforme aumenta la cantidad de claves, Trie rápidamente retoma la delantera</a:t>
            </a:r>
            <a:endParaRPr lang="es-MX"/>
          </a:p>
          <a:p>
            <a:pPr marL="0" indent="0">
              <a:buFont typeface="Arial"/>
              <a:buNone/>
              <a:defRPr/>
            </a:pPr>
            <a:endParaRPr/>
          </a:p>
        </p:txBody>
      </p:sp>
      <p:pic>
        <p:nvPicPr>
          <p:cNvPr id="1521925866" name=""/>
          <p:cNvPicPr>
            <a:picLocks noChangeAspect="1"/>
          </p:cNvPicPr>
          <p:nvPr/>
        </p:nvPicPr>
        <p:blipFill>
          <a:blip r:embed="rId3"/>
          <a:stretch/>
        </p:blipFill>
        <p:spPr bwMode="auto">
          <a:xfrm flipH="0" flipV="0">
            <a:off x="4583129" y="3598828"/>
            <a:ext cx="3025740" cy="302574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77832267" name="Title 1"/>
          <p:cNvSpPr>
            <a:spLocks noGrp="1"/>
          </p:cNvSpPr>
          <p:nvPr>
            <p:ph type="title"/>
          </p:nvPr>
        </p:nvSpPr>
        <p:spPr bwMode="auto"/>
        <p:txBody>
          <a:bodyPr/>
          <a:lstStyle/>
          <a:p>
            <a:pPr>
              <a:defRPr/>
            </a:pPr>
            <a:r>
              <a:rPr lang="es-MX"/>
              <a:t>Compresion de Prefijos</a:t>
            </a:r>
            <a:endParaRPr/>
          </a:p>
        </p:txBody>
      </p:sp>
      <p:sp>
        <p:nvSpPr>
          <p:cNvPr id="1440780707" name="Content Placeholder 2"/>
          <p:cNvSpPr>
            <a:spLocks noGrp="1"/>
          </p:cNvSpPr>
          <p:nvPr>
            <p:ph idx="1"/>
          </p:nvPr>
        </p:nvSpPr>
        <p:spPr bwMode="auto"/>
        <p:txBody>
          <a:bodyPr/>
          <a:lstStyle/>
          <a:p>
            <a:pPr marL="0" indent="0">
              <a:buFont typeface="Arial"/>
              <a:buNone/>
              <a:defRPr/>
            </a:pPr>
            <a:r>
              <a:rPr lang="es-MX"/>
              <a:t>Como se mencionó antes, los Tries adquieren su optimización de unificar prefijos comunes, lo que permite que se aprovechen mejor individualmente los símbolos, pues ante una mayor tasa de nodos clave/totales, mejor rendimiento del Trie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80658527" name="Title 1"/>
          <p:cNvSpPr>
            <a:spLocks noGrp="1"/>
          </p:cNvSpPr>
          <p:nvPr>
            <p:ph type="title"/>
          </p:nvPr>
        </p:nvSpPr>
        <p:spPr bwMode="auto"/>
        <p:txBody>
          <a:bodyPr/>
          <a:lstStyle/>
          <a:p>
            <a:pPr>
              <a:defRPr/>
            </a:pPr>
            <a:r>
              <a:rPr lang="es-MX"/>
              <a:t>Compresion de Prefijos</a:t>
            </a:r>
            <a:endParaRPr/>
          </a:p>
        </p:txBody>
      </p:sp>
      <p:sp>
        <p:nvSpPr>
          <p:cNvPr id="1474021569" name="Content Placeholder 2"/>
          <p:cNvSpPr>
            <a:spLocks noGrp="1"/>
          </p:cNvSpPr>
          <p:nvPr>
            <p:ph idx="1"/>
          </p:nvPr>
        </p:nvSpPr>
        <p:spPr bwMode="auto"/>
        <p:txBody>
          <a:bodyPr/>
          <a:lstStyle/>
          <a:p>
            <a:pPr marL="0" indent="0">
              <a:buFont typeface="Arial"/>
              <a:buNone/>
              <a:defRPr/>
            </a:pPr>
            <a:r>
              <a:rPr lang="es-MX"/>
              <a:t>Si no pudieramos aprovechar al completo la compresión de prefijos, nos acercamos al que es el peor caso en rendimiento para Trie, pues ante una escases de nodos clave, proliferan los intermedios, de lo que se concluye que la gran mayoría de nodos clave serían hojas. Que aunque poco común, nos llevaría a un rendimiento comparable al de BST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88576064" name="Title 1"/>
          <p:cNvSpPr>
            <a:spLocks noGrp="1"/>
          </p:cNvSpPr>
          <p:nvPr>
            <p:ph type="title"/>
          </p:nvPr>
        </p:nvSpPr>
        <p:spPr bwMode="auto"/>
        <p:txBody>
          <a:bodyPr/>
          <a:lstStyle/>
          <a:p>
            <a:pPr>
              <a:defRPr/>
            </a:pPr>
            <a:r>
              <a:rPr lang="es-MX"/>
              <a:t>Uso de memoria</a:t>
            </a:r>
            <a:endParaRPr/>
          </a:p>
        </p:txBody>
      </p:sp>
      <p:sp>
        <p:nvSpPr>
          <p:cNvPr id="1865330410" name="Content Placeholder 2"/>
          <p:cNvSpPr>
            <a:spLocks noGrp="1"/>
          </p:cNvSpPr>
          <p:nvPr>
            <p:ph idx="1"/>
          </p:nvPr>
        </p:nvSpPr>
        <p:spPr bwMode="auto"/>
        <p:txBody>
          <a:bodyPr/>
          <a:lstStyle/>
          <a:p>
            <a:pPr marL="0" indent="0">
              <a:buFont typeface="Arial"/>
              <a:buNone/>
              <a:defRPr/>
            </a:pPr>
            <a:r>
              <a:rPr lang="es-MX"/>
              <a:t>BST usaría un nodo por cada clave almacenada, cada uno con longitud máxima d, por lo que en el peor caso tomará O( n ), mientras que</a:t>
            </a:r>
            <a:r>
              <a:rPr lang="es-MX"/>
              <a:t> Trie requiere en el peor caso O( d * k ), con k la cantidad de símbolos en el alfabeto, y d la máxima longitud de una clave almacenada.</a:t>
            </a:r>
            <a:endParaRPr lang="es-MX"/>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9067636" name="Title 1"/>
          <p:cNvSpPr>
            <a:spLocks noGrp="1"/>
          </p:cNvSpPr>
          <p:nvPr>
            <p:ph type="title"/>
          </p:nvPr>
        </p:nvSpPr>
        <p:spPr bwMode="auto"/>
        <p:txBody>
          <a:bodyPr/>
          <a:lstStyle/>
          <a:p>
            <a:pPr>
              <a:defRPr/>
            </a:pPr>
            <a:r>
              <a:rPr lang="es-MX"/>
              <a:t>Busqueda</a:t>
            </a:r>
            <a:endParaRPr/>
          </a:p>
        </p:txBody>
      </p:sp>
      <p:sp>
        <p:nvSpPr>
          <p:cNvPr id="1490460177" name="Content Placeholder 2"/>
          <p:cNvSpPr>
            <a:spLocks noGrp="1"/>
          </p:cNvSpPr>
          <p:nvPr>
            <p:ph idx="1"/>
          </p:nvPr>
        </p:nvSpPr>
        <p:spPr bwMode="auto"/>
        <p:txBody>
          <a:bodyPr/>
          <a:lstStyle/>
          <a:p>
            <a:pPr marL="0" indent="0">
              <a:buFont typeface="Arial"/>
              <a:buNone/>
              <a:defRPr/>
            </a:pPr>
            <a:r>
              <a:rPr lang="es-MX"/>
              <a:t>Partiendo de un Trie adecuadamente formado... ¿Como se busca dentro de este y cuánto tiempo toma?</a:t>
            </a:r>
            <a:endParaRPr lang="es-MX"/>
          </a:p>
          <a:p>
            <a:pPr marL="0" indent="0">
              <a:buFont typeface="Arial"/>
              <a:buNone/>
              <a:defRPr/>
            </a:pPr>
            <a:endParaRPr/>
          </a:p>
          <a:p>
            <a:pPr marL="0" indent="0">
              <a:buFont typeface="Arial"/>
              <a:buNone/>
              <a:defRPr/>
            </a:pPr>
            <a:r>
              <a:rPr lang="es-MX"/>
              <a:t>La estrategia es sencilla: Sigue el recorrido provisto por </a:t>
            </a:r>
            <a:endParaRPr lang="es-MX"/>
          </a:p>
          <a:p>
            <a:pPr marL="0" indent="0">
              <a:buFont typeface="Arial"/>
              <a:buNone/>
              <a:defRPr/>
            </a:pPr>
            <a:r>
              <a:rPr lang="es-MX"/>
              <a:t>la estructura, un caracter a la vez respecto la clave</a:t>
            </a:r>
            <a:endParaRPr lang="es-MX"/>
          </a:p>
          <a:p>
            <a:pPr marL="0" indent="0">
              <a:buFont typeface="Arial"/>
              <a:buNone/>
              <a:defRPr/>
            </a:pPr>
            <a:r>
              <a:rPr lang="es-MX"/>
              <a:t>buscada</a:t>
            </a:r>
            <a:endParaRPr lang="es-MX"/>
          </a:p>
        </p:txBody>
      </p:sp>
      <p:pic>
        <p:nvPicPr>
          <p:cNvPr id="202807133" name=""/>
          <p:cNvPicPr>
            <a:picLocks noChangeAspect="1"/>
          </p:cNvPicPr>
          <p:nvPr/>
        </p:nvPicPr>
        <p:blipFill>
          <a:blip r:embed="rId3"/>
          <a:stretch/>
        </p:blipFill>
        <p:spPr bwMode="auto">
          <a:xfrm>
            <a:off x="9350598" y="3420950"/>
            <a:ext cx="2819399" cy="3429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83716024" name="Title 1"/>
          <p:cNvSpPr>
            <a:spLocks noGrp="1"/>
          </p:cNvSpPr>
          <p:nvPr>
            <p:ph type="title"/>
          </p:nvPr>
        </p:nvSpPr>
        <p:spPr bwMode="auto"/>
        <p:txBody>
          <a:bodyPr/>
          <a:lstStyle/>
          <a:p>
            <a:pPr>
              <a:defRPr/>
            </a:pPr>
            <a:r>
              <a:rPr lang="es-MX"/>
              <a:t>Busqueda</a:t>
            </a:r>
            <a:endParaRPr/>
          </a:p>
        </p:txBody>
      </p:sp>
      <p:sp>
        <p:nvSpPr>
          <p:cNvPr id="920355976" name="Content Placeholder 2"/>
          <p:cNvSpPr>
            <a:spLocks noGrp="1"/>
          </p:cNvSpPr>
          <p:nvPr>
            <p:ph idx="1"/>
          </p:nvPr>
        </p:nvSpPr>
        <p:spPr bwMode="auto"/>
        <p:txBody>
          <a:bodyPr/>
          <a:lstStyle/>
          <a:p>
            <a:pPr marL="0" indent="0">
              <a:buFont typeface="Arial"/>
              <a:buNone/>
              <a:defRPr/>
            </a:pPr>
            <a:r>
              <a:rPr lang="es-MX"/>
              <a:t>Partiendo del nodo raiz del Trie, avanzamos por la arista marcada por el i-esimo caracter de la clave buscada hasta terminar con los caracteres de la clave, o alcanzar un nodo intermedio o una hoja sin una arista que lleve al siguiente nodo esperado.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04467670" name="Title 1"/>
          <p:cNvSpPr>
            <a:spLocks noGrp="1"/>
          </p:cNvSpPr>
          <p:nvPr>
            <p:ph type="title"/>
          </p:nvPr>
        </p:nvSpPr>
        <p:spPr bwMode="auto"/>
        <p:txBody>
          <a:bodyPr/>
          <a:lstStyle/>
          <a:p>
            <a:pPr>
              <a:defRPr/>
            </a:pPr>
            <a:r>
              <a:rPr lang="es-MX"/>
              <a:t>Complejidad de Busqueda - O(d)</a:t>
            </a:r>
            <a:endParaRPr/>
          </a:p>
        </p:txBody>
      </p:sp>
      <p:sp>
        <p:nvSpPr>
          <p:cNvPr id="1756163847"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a:defRPr/>
            </a:pPr>
            <a:r>
              <a:rPr lang="es-ES" sz="2800" b="0" i="0" u="none" strike="noStrike" cap="none" spc="0">
                <a:solidFill>
                  <a:schemeClr val="tx1"/>
                </a:solidFill>
                <a:latin typeface="Arial"/>
                <a:ea typeface="Arial"/>
                <a:cs typeface="Arial"/>
              </a:rPr>
              <a:t>La búsqueda del siguiente car</a:t>
            </a:r>
            <a:r>
              <a:rPr lang="es-MX" sz="2800" b="0" i="0" u="none" strike="noStrike" cap="none" spc="0">
                <a:solidFill>
                  <a:schemeClr val="tx1"/>
                </a:solidFill>
                <a:latin typeface="Arial"/>
                <a:ea typeface="Arial"/>
                <a:cs typeface="Arial"/>
              </a:rPr>
              <a:t>á</a:t>
            </a:r>
            <a:r>
              <a:rPr lang="es-MX" sz="2800" b="0" i="0" u="none" strike="noStrike" cap="none" spc="0">
                <a:solidFill>
                  <a:schemeClr val="tx1"/>
                </a:solidFill>
                <a:latin typeface="Arial"/>
                <a:ea typeface="Arial"/>
                <a:cs typeface="Arial"/>
              </a:rPr>
              <a:t>cter en las aristas emergentes depende de la implementación</a:t>
            </a:r>
            <a:endParaRPr lang="es-MX" sz="2800" b="0" i="0" u="none" strike="noStrike" cap="none" spc="0">
              <a:solidFill>
                <a:schemeClr val="tx1"/>
              </a:solidFill>
              <a:latin typeface="Arial"/>
              <a:ea typeface="Arial"/>
              <a:cs typeface="Arial"/>
            </a:endParaRPr>
          </a:p>
          <a:p>
            <a:pPr lvl="1">
              <a:defRPr/>
            </a:pPr>
            <a:r>
              <a:rPr lang="es-MX" sz="2400" b="0" i="0" u="none" strike="noStrike" cap="none" spc="0">
                <a:solidFill>
                  <a:schemeClr val="tx1"/>
                </a:solidFill>
                <a:latin typeface="Arial"/>
                <a:ea typeface="Arial"/>
                <a:cs typeface="Arial"/>
              </a:rPr>
              <a:t>HasTable indica O(1)</a:t>
            </a:r>
            <a:endParaRPr lang="es-MX" sz="2400" b="0" i="0" u="none" strike="noStrike" cap="none" spc="0">
              <a:solidFill>
                <a:schemeClr val="tx1"/>
              </a:solidFill>
              <a:latin typeface="Arial"/>
              <a:ea typeface="Arial"/>
              <a:cs typeface="Arial"/>
            </a:endParaRPr>
          </a:p>
          <a:p>
            <a:pPr lvl="1">
              <a:defRPr/>
            </a:pPr>
            <a:r>
              <a:rPr lang="es-MX" sz="2400" b="0" i="0" u="none" strike="noStrike" cap="none" spc="0">
                <a:solidFill>
                  <a:schemeClr val="tx1"/>
                </a:solidFill>
                <a:latin typeface="Arial"/>
                <a:ea typeface="Arial"/>
                <a:cs typeface="Arial"/>
              </a:rPr>
              <a:t>BST indica O(log k) que termina volviendose O(1)</a:t>
            </a:r>
            <a:endParaRPr lang="es-MX" sz="2400" b="0" i="0" u="none" strike="noStrike" cap="none" spc="0">
              <a:solidFill>
                <a:schemeClr val="tx1"/>
              </a:solidFill>
              <a:latin typeface="Arial"/>
              <a:ea typeface="Arial"/>
              <a:cs typeface="Arial"/>
            </a:endParaRPr>
          </a:p>
          <a:p>
            <a:pPr lvl="1">
              <a:defRPr/>
            </a:pPr>
            <a:r>
              <a:rPr lang="es-MX" sz="2400" b="0" i="0" u="none" strike="noStrike" cap="none" spc="0">
                <a:solidFill>
                  <a:schemeClr val="tx1"/>
                </a:solidFill>
                <a:latin typeface="Arial"/>
                <a:ea typeface="Arial"/>
                <a:cs typeface="Arial"/>
              </a:rPr>
              <a:t>Arreglo indica O(k)</a:t>
            </a:r>
            <a:endParaRPr lang="es-ES" sz="2800" b="0" i="0" u="none" strike="noStrike" cap="none" spc="0">
              <a:solidFill>
                <a:schemeClr val="tx1"/>
              </a:solidFill>
              <a:latin typeface="Arial"/>
              <a:ea typeface="Arial"/>
              <a:cs typeface="Arial"/>
            </a:endParaRPr>
          </a:p>
          <a:p>
            <a:pPr>
              <a:defRPr/>
            </a:pPr>
            <a:r>
              <a:rPr lang="es-ES" sz="2800" b="0" i="0" u="none" strike="noStrike" cap="none" spc="0">
                <a:solidFill>
                  <a:schemeClr val="tx1"/>
                </a:solidFill>
                <a:latin typeface="Arial"/>
                <a:ea typeface="Arial"/>
                <a:cs typeface="Arial"/>
              </a:rPr>
              <a:t>El manejo de Strings puede provocar ineficiencias</a:t>
            </a:r>
            <a:endParaRPr lang="es-ES" sz="2800" b="0" i="0" u="none" strike="noStrike" cap="none" spc="0">
              <a:solidFill>
                <a:schemeClr val="tx1"/>
              </a:solidFill>
              <a:latin typeface="Arial"/>
              <a:ea typeface="Arial"/>
              <a:cs typeface="Arial"/>
            </a:endParaRPr>
          </a:p>
          <a:p>
            <a:pPr>
              <a:defRPr/>
            </a:pPr>
            <a:r>
              <a:rPr lang="es-MX" sz="2800" b="0" i="0" u="none" strike="noStrike" cap="none" spc="0">
                <a:solidFill>
                  <a:schemeClr val="tx1"/>
                </a:solidFill>
                <a:latin typeface="Arial"/>
                <a:ea typeface="Arial"/>
                <a:cs typeface="Arial"/>
              </a:rPr>
              <a:t>Se han de recorrer hasta d nodos para determinar si la clave se encuentra registrada</a:t>
            </a:r>
            <a:endParaRPr lang="es-ES" sz="2800" b="0" i="0" u="none" strike="noStrike" cap="none" spc="0">
              <a:solidFill>
                <a:schemeClr val="tx1"/>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33603720" name=""/>
          <p:cNvPicPr>
            <a:picLocks noChangeAspect="1"/>
          </p:cNvPicPr>
          <p:nvPr/>
        </p:nvPicPr>
        <p:blipFill>
          <a:blip r:embed="rId3"/>
          <a:stretch/>
        </p:blipFill>
        <p:spPr bwMode="auto">
          <a:xfrm flipH="0" flipV="0">
            <a:off x="-43305" y="874689"/>
            <a:ext cx="12278612" cy="510861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5997001" name="Title 1"/>
          <p:cNvSpPr>
            <a:spLocks noGrp="1"/>
          </p:cNvSpPr>
          <p:nvPr>
            <p:ph type="title"/>
          </p:nvPr>
        </p:nvSpPr>
        <p:spPr bwMode="auto"/>
        <p:txBody>
          <a:bodyPr/>
          <a:lstStyle/>
          <a:p>
            <a:pPr>
              <a:defRPr/>
            </a:pPr>
            <a:r>
              <a:rPr lang="es-MX"/>
              <a:t>Inserción – O(d)</a:t>
            </a:r>
            <a:endParaRPr/>
          </a:p>
        </p:txBody>
      </p:sp>
      <p:sp>
        <p:nvSpPr>
          <p:cNvPr id="960260187" name="Content Placeholder 2"/>
          <p:cNvSpPr>
            <a:spLocks noGrp="1"/>
          </p:cNvSpPr>
          <p:nvPr>
            <p:ph idx="1"/>
          </p:nvPr>
        </p:nvSpPr>
        <p:spPr bwMode="auto"/>
        <p:txBody>
          <a:bodyPr/>
          <a:lstStyle/>
          <a:p>
            <a:pPr marL="0" indent="0">
              <a:buFont typeface="Arial"/>
              <a:buNone/>
              <a:defRPr/>
            </a:pPr>
            <a:r>
              <a:rPr lang="es-MX"/>
              <a:t>Sigue una lógica bastante similar a la busqueda, y considera 2 escenarios:</a:t>
            </a:r>
            <a:endParaRPr lang="es-MX"/>
          </a:p>
          <a:p>
            <a:pPr>
              <a:defRPr/>
            </a:pPr>
            <a:r>
              <a:rPr lang="es-MX"/>
              <a:t>El camino ya existe (se ha de marcar el nodo al final de ese camino como nodo clave)</a:t>
            </a:r>
            <a:endParaRPr lang="es-MX"/>
          </a:p>
          <a:p>
            <a:pPr>
              <a:defRPr/>
            </a:pPr>
            <a:r>
              <a:rPr lang="es-MX"/>
              <a:t>El camino corresponde a una porción de la palabra (se han de insertar los nodos restantes)</a:t>
            </a:r>
            <a:endParaRPr lang="es-MX"/>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40059712" name=""/>
          <p:cNvPicPr>
            <a:picLocks noChangeAspect="1"/>
          </p:cNvPicPr>
          <p:nvPr/>
        </p:nvPicPr>
        <p:blipFill>
          <a:blip r:embed="rId3"/>
          <a:stretch/>
        </p:blipFill>
        <p:spPr bwMode="auto">
          <a:xfrm>
            <a:off x="2076449" y="742950"/>
            <a:ext cx="8039099" cy="53721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736605"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Remover – O( d )</a:t>
            </a:r>
            <a:endParaRPr/>
          </a:p>
        </p:txBody>
      </p:sp>
      <p:sp>
        <p:nvSpPr>
          <p:cNvPr id="1861543350"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a:defRPr/>
            </a:pPr>
            <a:endParaRPr lang="es-ES" sz="2800" b="0" i="0" u="none" strike="noStrike" cap="none" spc="0">
              <a:solidFill>
                <a:schemeClr val="tx1"/>
              </a:solidFill>
              <a:latin typeface="Arial"/>
              <a:cs typeface="Arial"/>
            </a:endParaRPr>
          </a:p>
          <a:p>
            <a:pPr marL="0" indent="0">
              <a:buFont typeface="Arial"/>
              <a:buNone/>
              <a:defRPr/>
            </a:pPr>
            <a:r>
              <a:rPr lang="es-MX" sz="2800" b="0" i="0" u="none" strike="noStrike" cap="none" spc="0">
                <a:solidFill>
                  <a:schemeClr val="tx1"/>
                </a:solidFill>
                <a:latin typeface="Arial"/>
                <a:ea typeface="Arial"/>
                <a:cs typeface="Arial"/>
              </a:rPr>
              <a:t>Podemos considerar </a:t>
            </a:r>
            <a:r>
              <a:rPr lang="es-ES" sz="2800" b="0" i="0" u="none" strike="noStrike" cap="none" spc="0">
                <a:solidFill>
                  <a:schemeClr val="tx1"/>
                </a:solidFill>
                <a:latin typeface="Arial"/>
                <a:ea typeface="Arial"/>
                <a:cs typeface="Arial"/>
              </a:rPr>
              <a:t>remover </a:t>
            </a:r>
            <a:r>
              <a:rPr lang="es-MX" sz="2800" b="0" i="0" u="none" strike="noStrike" cap="none" spc="0">
                <a:solidFill>
                  <a:schemeClr val="tx1"/>
                </a:solidFill>
                <a:latin typeface="Arial"/>
                <a:ea typeface="Arial"/>
                <a:cs typeface="Arial"/>
              </a:rPr>
              <a:t>de dos formas:</a:t>
            </a:r>
            <a:endParaRPr lang="es-MX" sz="2800" b="0" i="0" u="none" strike="noStrike" cap="none" spc="0">
              <a:solidFill>
                <a:schemeClr val="tx1"/>
              </a:solidFill>
              <a:latin typeface="Arial"/>
              <a:ea typeface="Arial"/>
              <a:cs typeface="Arial"/>
            </a:endParaRPr>
          </a:p>
          <a:p>
            <a:pPr>
              <a:defRPr/>
            </a:pPr>
            <a:r>
              <a:rPr lang="es-MX" sz="2800" b="0" i="0" u="none" strike="noStrike" cap="none" spc="0">
                <a:solidFill>
                  <a:schemeClr val="tx1"/>
                </a:solidFill>
                <a:latin typeface="Arial"/>
                <a:ea typeface="Arial"/>
                <a:cs typeface="Arial"/>
              </a:rPr>
              <a:t>Veloz pero despediciando memoria</a:t>
            </a:r>
            <a:endParaRPr lang="es-MX" sz="2800" b="0" i="0" u="none" strike="noStrike" cap="none" spc="0">
              <a:solidFill>
                <a:schemeClr val="tx1"/>
              </a:solidFill>
              <a:latin typeface="Arial"/>
              <a:ea typeface="Arial"/>
              <a:cs typeface="Arial"/>
            </a:endParaRPr>
          </a:p>
          <a:p>
            <a:pPr lvl="1">
              <a:defRPr/>
            </a:pPr>
            <a:r>
              <a:rPr lang="es-MX" sz="2400" b="0" i="0" u="none" strike="noStrike" cap="none" spc="0">
                <a:solidFill>
                  <a:schemeClr val="tx1"/>
                </a:solidFill>
                <a:latin typeface="Arial"/>
                <a:ea typeface="Arial"/>
                <a:cs typeface="Arial"/>
              </a:rPr>
              <a:t>Si se encuentra la clave buscada, desmarcar su nodo para volverlo “intermedio” y que la estructura ya no lo reconozca</a:t>
            </a:r>
            <a:endParaRPr lang="es-ES" sz="2800" b="0" i="0" u="none" strike="noStrike" cap="none" spc="0">
              <a:solidFill>
                <a:schemeClr val="tx1"/>
              </a:solidFill>
              <a:latin typeface="Arial"/>
              <a:ea typeface="Arial"/>
              <a:cs typeface="Arial"/>
            </a:endParaRPr>
          </a:p>
          <a:p>
            <a:pPr>
              <a:defRPr/>
            </a:pPr>
            <a:r>
              <a:rPr lang="es-MX" sz="2800" b="0" i="0" u="none" strike="noStrike" cap="none" spc="0">
                <a:solidFill>
                  <a:schemeClr val="tx1"/>
                </a:solidFill>
                <a:latin typeface="Arial"/>
                <a:ea typeface="Arial"/>
                <a:cs typeface="Arial"/>
              </a:rPr>
              <a:t>No tan rapido, pero sin desperdiciar memoria</a:t>
            </a:r>
            <a:endParaRPr lang="es-MX" sz="2800" b="0" i="0" u="none" strike="noStrike" cap="none" spc="0">
              <a:solidFill>
                <a:schemeClr val="tx1"/>
              </a:solidFill>
              <a:latin typeface="Arial"/>
              <a:ea typeface="Arial"/>
              <a:cs typeface="Arial"/>
            </a:endParaRPr>
          </a:p>
          <a:p>
            <a:pPr lvl="1">
              <a:defRPr/>
            </a:pPr>
            <a:r>
              <a:rPr lang="es-MX" sz="2400" b="0" i="0" u="none" strike="noStrike" cap="none" spc="0">
                <a:solidFill>
                  <a:schemeClr val="tx1"/>
                </a:solidFill>
                <a:latin typeface="Arial"/>
                <a:ea typeface="Arial"/>
                <a:cs typeface="Arial"/>
              </a:rPr>
              <a:t>Si es nodo hoja, eliminarlo a él y sus predecesores hasta alcanzar un nodo clave</a:t>
            </a:r>
            <a:endParaRPr lang="es-MX" sz="2400" b="0" i="0" u="none" strike="noStrike" cap="none" spc="0">
              <a:solidFill>
                <a:schemeClr val="tx1"/>
              </a:solidFill>
              <a:latin typeface="Arial"/>
              <a:ea typeface="Arial"/>
              <a:cs typeface="Arial"/>
            </a:endParaRPr>
          </a:p>
          <a:p>
            <a:pPr lvl="1">
              <a:defRPr/>
            </a:pPr>
            <a:r>
              <a:rPr lang="es-MX" sz="2400" b="0" i="0" u="none" strike="noStrike" cap="none" spc="0">
                <a:solidFill>
                  <a:schemeClr val="tx1"/>
                </a:solidFill>
                <a:latin typeface="Arial"/>
                <a:ea typeface="Arial"/>
                <a:cs typeface="Arial"/>
              </a:rPr>
              <a:t>Si no es nodo hoja, simplemente desmarcarlo</a:t>
            </a:r>
            <a:endParaRPr lang="es-MX" sz="2800" b="0" i="0" u="none" strike="noStrike" cap="none" spc="0">
              <a:solidFill>
                <a:schemeClr val="tx1"/>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80903214" name="Title 1"/>
          <p:cNvSpPr>
            <a:spLocks noGrp="1"/>
          </p:cNvSpPr>
          <p:nvPr>
            <p:ph type="title"/>
          </p:nvPr>
        </p:nvSpPr>
        <p:spPr bwMode="auto"/>
        <p:txBody>
          <a:bodyPr/>
          <a:lstStyle/>
          <a:p>
            <a:pPr>
              <a:defRPr/>
            </a:pPr>
            <a:r>
              <a:rPr lang="es-MX"/>
              <a:t>Trie ¿Todo es tan bueno?</a:t>
            </a:r>
            <a:endParaRPr/>
          </a:p>
        </p:txBody>
      </p:sp>
      <p:sp>
        <p:nvSpPr>
          <p:cNvPr id="1584854618" name="Content Placeholder 2"/>
          <p:cNvSpPr>
            <a:spLocks noGrp="1"/>
          </p:cNvSpPr>
          <p:nvPr>
            <p:ph idx="1"/>
          </p:nvPr>
        </p:nvSpPr>
        <p:spPr bwMode="auto"/>
        <p:txBody>
          <a:bodyPr/>
          <a:lstStyle/>
          <a:p>
            <a:pPr marL="0" indent="0">
              <a:buFont typeface="Arial"/>
              <a:buNone/>
              <a:defRPr/>
            </a:pPr>
            <a:r>
              <a:rPr lang="es-MX"/>
              <a:t>Ya sabíamos que no hay estructura perfecta, y sigue aplicando para Trie.</a:t>
            </a:r>
            <a:endParaRPr lang="es-MX"/>
          </a:p>
          <a:p>
            <a:pPr>
              <a:defRPr/>
            </a:pPr>
            <a:r>
              <a:rPr lang="es-MX"/>
              <a:t>Consulta inefciente frente HashTable O(1) vs O(d)</a:t>
            </a:r>
            <a:endParaRPr lang="es-MX"/>
          </a:p>
          <a:p>
            <a:pPr>
              <a:defRPr/>
            </a:pPr>
            <a:r>
              <a:rPr lang="es-MX"/>
              <a:t>Memoria desperdigada vs Memoria contigua (Trie vs HashTable)</a:t>
            </a:r>
            <a:endParaRPr lang="es-MX"/>
          </a:p>
          <a:p>
            <a:pPr>
              <a:defRPr/>
            </a:pPr>
            <a:endParaRPr lang="es-MX"/>
          </a:p>
          <a:p>
            <a:pPr>
              <a:defRPr/>
            </a:pPr>
            <a:r>
              <a:rPr lang="es-MX"/>
              <a:t>Optimizacion de memoria dependiente de la implementación</a:t>
            </a:r>
            <a:endParaRPr lang="es-MX"/>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6979604" name="Title 1"/>
          <p:cNvSpPr>
            <a:spLocks noGrp="1"/>
          </p:cNvSpPr>
          <p:nvPr>
            <p:ph type="title"/>
          </p:nvPr>
        </p:nvSpPr>
        <p:spPr bwMode="auto"/>
        <p:txBody>
          <a:bodyPr/>
          <a:lstStyle/>
          <a:p>
            <a:pPr>
              <a:defRPr/>
            </a:pPr>
            <a:r>
              <a:rPr lang="es-MX"/>
              <a:t>Una optimización</a:t>
            </a:r>
            <a:endParaRPr/>
          </a:p>
        </p:txBody>
      </p:sp>
      <p:sp>
        <p:nvSpPr>
          <p:cNvPr id="1016475125" name="Content Placeholder 2"/>
          <p:cNvSpPr>
            <a:spLocks noGrp="1"/>
          </p:cNvSpPr>
          <p:nvPr>
            <p:ph idx="1"/>
          </p:nvPr>
        </p:nvSpPr>
        <p:spPr bwMode="auto"/>
        <p:txBody>
          <a:bodyPr/>
          <a:lstStyle/>
          <a:p>
            <a:pPr marL="0" indent="0">
              <a:buFont typeface="Arial"/>
              <a:buNone/>
              <a:defRPr/>
            </a:pPr>
            <a:r>
              <a:rPr lang="es-MX"/>
              <a:t>Como hemos visto, al insertar cada nueva clave, suele suceder que tenemos un camino muy largo desde el nodo de origen hasta el nodo final (que contiene el marcador de fin de clave), por lo que de esta observación surge una potencial optimización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46472582" name="Title 1"/>
          <p:cNvSpPr>
            <a:spLocks noGrp="1"/>
          </p:cNvSpPr>
          <p:nvPr>
            <p:ph type="title"/>
          </p:nvPr>
        </p:nvSpPr>
        <p:spPr bwMode="auto"/>
        <p:txBody>
          <a:bodyPr/>
          <a:lstStyle/>
          <a:p>
            <a:pPr>
              <a:defRPr/>
            </a:pPr>
            <a:r>
              <a:rPr lang="es-MX"/>
              <a:t>A comprimir</a:t>
            </a:r>
            <a:endParaRPr/>
          </a:p>
        </p:txBody>
      </p:sp>
      <p:sp>
        <p:nvSpPr>
          <p:cNvPr id="1345673104" name="Content Placeholder 2"/>
          <p:cNvSpPr>
            <a:spLocks noGrp="1"/>
          </p:cNvSpPr>
          <p:nvPr>
            <p:ph idx="1"/>
          </p:nvPr>
        </p:nvSpPr>
        <p:spPr bwMode="auto"/>
        <p:txBody>
          <a:bodyPr/>
          <a:lstStyle/>
          <a:p>
            <a:pPr marL="0" indent="0">
              <a:buFont typeface="Arial"/>
              <a:buNone/>
              <a:defRPr/>
            </a:pPr>
            <a:r>
              <a:rPr lang="es-MX"/>
              <a:t>Entonces, recordemos la noción que tenemos de los prefijos comunes y los nodos clave, de aquí notamos que los que son caminos-puente (series de nodos que unicamente tienen un descendiente), podríamos comprimirlos en un arco unico, aunque ha de sufrir algunas modificaciones</a:t>
            </a:r>
            <a:endParaRPr lang="es-MX"/>
          </a:p>
        </p:txBody>
      </p:sp>
      <p:pic>
        <p:nvPicPr>
          <p:cNvPr id="1720036948" name=""/>
          <p:cNvPicPr>
            <a:picLocks noChangeAspect="1"/>
          </p:cNvPicPr>
          <p:nvPr/>
        </p:nvPicPr>
        <p:blipFill>
          <a:blip r:embed="rId3"/>
          <a:stretch/>
        </p:blipFill>
        <p:spPr bwMode="auto">
          <a:xfrm>
            <a:off x="4667249" y="4001293"/>
            <a:ext cx="2857500" cy="23621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1673139" name="Title 1"/>
          <p:cNvSpPr>
            <a:spLocks noGrp="1"/>
          </p:cNvSpPr>
          <p:nvPr>
            <p:ph type="title"/>
          </p:nvPr>
        </p:nvSpPr>
        <p:spPr bwMode="auto"/>
        <p:txBody>
          <a:bodyPr/>
          <a:lstStyle/>
          <a:p>
            <a:pPr>
              <a:defRPr/>
            </a:pPr>
            <a:r>
              <a:rPr lang="es-MX"/>
              <a:t>Otro tipo de arco</a:t>
            </a:r>
            <a:endParaRPr/>
          </a:p>
        </p:txBody>
      </p:sp>
      <p:sp>
        <p:nvSpPr>
          <p:cNvPr id="360196706" name="Content Placeholder 2"/>
          <p:cNvSpPr>
            <a:spLocks noGrp="1"/>
          </p:cNvSpPr>
          <p:nvPr>
            <p:ph idx="1"/>
          </p:nvPr>
        </p:nvSpPr>
        <p:spPr bwMode="auto"/>
        <p:txBody>
          <a:bodyPr/>
          <a:lstStyle/>
          <a:p>
            <a:pPr marL="0" indent="0">
              <a:buFont typeface="Arial"/>
              <a:buNone/>
              <a:defRPr/>
            </a:pPr>
            <a:r>
              <a:rPr lang="es-MX"/>
              <a:t>Se había mencionado que los arcos originales de Trie, almacenaban cada uno un caracter comprendido por el alfabeto, sin embargo, si deseamos comprimir los caminos, debemos cambiar de enfoque, desde caracteres individuales, a cadenas (String), a modo que podamos almacenar secciones de la palabra en un solo arco (o la palabra entera si se da el caso)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8067032" name="Title 1"/>
          <p:cNvSpPr>
            <a:spLocks noGrp="1"/>
          </p:cNvSpPr>
          <p:nvPr>
            <p:ph type="title"/>
          </p:nvPr>
        </p:nvSpPr>
        <p:spPr bwMode="auto"/>
        <p:txBody>
          <a:bodyPr/>
          <a:lstStyle/>
          <a:p>
            <a:pPr>
              <a:defRPr/>
            </a:pPr>
            <a:r>
              <a:rPr lang="es-MX"/>
              <a:t>¿Qué cambia?</a:t>
            </a:r>
            <a:endParaRPr/>
          </a:p>
        </p:txBody>
      </p:sp>
      <p:sp>
        <p:nvSpPr>
          <p:cNvPr id="959723859" name="Content Placeholder 2"/>
          <p:cNvSpPr>
            <a:spLocks noGrp="1"/>
          </p:cNvSpPr>
          <p:nvPr>
            <p:ph idx="1"/>
          </p:nvPr>
        </p:nvSpPr>
        <p:spPr bwMode="auto"/>
        <p:txBody>
          <a:bodyPr/>
          <a:lstStyle/>
          <a:p>
            <a:pPr marL="0" indent="0">
              <a:buFont typeface="Arial"/>
              <a:buNone/>
              <a:defRPr/>
            </a:pPr>
            <a:r>
              <a:rPr lang="es-MX"/>
              <a:t>Como se había mencionado, casi en su totalidad el funcionamientro de Trie recae en la implementación del modo de recorrerlo, y ahora que se tienen arcos con multiples caracteres, debe plantearse el modo de recorrer las cadenas en los arcos caracter a caracter, por lo que aún con la optimización, no se ve reducida la cota O(d)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5702643" name="Title 1"/>
          <p:cNvSpPr>
            <a:spLocks noGrp="1"/>
          </p:cNvSpPr>
          <p:nvPr>
            <p:ph type="title"/>
          </p:nvPr>
        </p:nvSpPr>
        <p:spPr bwMode="auto"/>
        <p:txBody>
          <a:bodyPr/>
          <a:lstStyle/>
          <a:p>
            <a:pPr>
              <a:defRPr/>
            </a:pPr>
            <a:r>
              <a:rPr lang="es-MX"/>
              <a:t>Compresion y Decompresión</a:t>
            </a:r>
            <a:endParaRPr/>
          </a:p>
        </p:txBody>
      </p:sp>
      <p:sp>
        <p:nvSpPr>
          <p:cNvPr id="542219751"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marL="0" indent="0">
              <a:buFont typeface="Arial"/>
              <a:buNone/>
              <a:defRPr/>
            </a:pPr>
            <a:r>
              <a:rPr lang="es-MX"/>
              <a:t>Como dijimos, para cada consulta, inserción, y eliminación, debemos recorrer y comparar uno a uno los caracteres presentes en la clave, con los presentes en la estructura, y en el momento que se encuentre una desigualdad, es que hay que hacer modificaciones.</a:t>
            </a:r>
            <a:endParaRPr lang="es-MX"/>
          </a:p>
          <a:p>
            <a:pPr marL="0" indent="0">
              <a:buFont typeface="Arial"/>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942428" name="Title 1"/>
          <p:cNvSpPr>
            <a:spLocks noGrp="1"/>
          </p:cNvSpPr>
          <p:nvPr>
            <p:ph type="title"/>
          </p:nvPr>
        </p:nvSpPr>
        <p:spPr bwMode="auto"/>
        <p:txBody>
          <a:bodyPr/>
          <a:lstStyle/>
          <a:p>
            <a:pPr>
              <a:defRPr/>
            </a:pPr>
            <a:r>
              <a:rPr lang="es-MX" sz="4400" b="0" i="0" u="none" strike="noStrike" cap="none" spc="0">
                <a:solidFill>
                  <a:schemeClr val="tx1"/>
                </a:solidFill>
                <a:latin typeface="+mj-lt"/>
                <a:ea typeface="+mj-ea"/>
                <a:cs typeface="+mj-cs"/>
              </a:rPr>
              <a:t>Compresion y Decompresión</a:t>
            </a:r>
            <a:endParaRPr sz="4400"/>
          </a:p>
        </p:txBody>
      </p:sp>
      <p:sp>
        <p:nvSpPr>
          <p:cNvPr id="1633092758" name="Content Placeholder 2"/>
          <p:cNvSpPr>
            <a:spLocks noGrp="1"/>
          </p:cNvSpPr>
          <p:nvPr>
            <p:ph idx="1"/>
          </p:nvPr>
        </p:nvSpPr>
        <p:spPr bwMode="auto"/>
        <p:txBody>
          <a:bodyPr/>
          <a:lstStyle/>
          <a:p>
            <a:pPr marL="0" indent="0">
              <a:buFont typeface="Arial"/>
              <a:buNone/>
              <a:defRPr/>
            </a:pPr>
            <a:r>
              <a:rPr lang="es-MX" sz="2800" b="0" i="0" u="none" strike="noStrike" cap="none" spc="0">
                <a:solidFill>
                  <a:schemeClr val="tx1"/>
                </a:solidFill>
                <a:latin typeface="+mn-lt"/>
                <a:ea typeface="+mn-ea"/>
                <a:cs typeface="+mn-cs"/>
              </a:rPr>
              <a:t>En caso de Radix Trie, si dentro del arco encontramos una diferencia, tenemos que descomprimir el arco e insertar un nuevo nodo intermedio en el punto de desigualdad, de modo que lo que originalmente era un arco con un valor de String alargado, se vuelva un arco, seguido de un nodo, que a su vez diverge en 2 nuevos arcos que encaminan a otros nodos.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70606205" name="Title 1"/>
          <p:cNvSpPr>
            <a:spLocks noGrp="1"/>
          </p:cNvSpPr>
          <p:nvPr>
            <p:ph type="title"/>
          </p:nvPr>
        </p:nvSpPr>
        <p:spPr bwMode="auto"/>
        <p:txBody>
          <a:bodyPr/>
          <a:lstStyle/>
          <a:p>
            <a:pPr>
              <a:defRPr/>
            </a:pPr>
            <a:r>
              <a:rPr lang="es-MX"/>
              <a:t>¿Por que hacerlo?</a:t>
            </a:r>
            <a:endParaRPr/>
          </a:p>
        </p:txBody>
      </p:sp>
      <p:sp>
        <p:nvSpPr>
          <p:cNvPr id="726363026" name="Content Placeholder 2"/>
          <p:cNvSpPr>
            <a:spLocks noGrp="1"/>
          </p:cNvSpPr>
          <p:nvPr>
            <p:ph idx="1"/>
          </p:nvPr>
        </p:nvSpPr>
        <p:spPr bwMode="auto"/>
        <p:txBody>
          <a:bodyPr/>
          <a:lstStyle/>
          <a:p>
            <a:pPr marL="0" indent="0">
              <a:buFont typeface="Arial"/>
              <a:buNone/>
              <a:defRPr/>
            </a:pPr>
            <a:r>
              <a:rPr lang="es-MX"/>
              <a:t>De inicio, pareciera que no estamos teniendo una gran ventaja, pues la complejidad de consulta, inserción y eliminación permanece en O(d) , pero hay un principio (localidad), que es relevante según el hardware en que se almacenan los datos.</a:t>
            </a:r>
            <a:endParaRPr lang="es-MX"/>
          </a:p>
          <a:p>
            <a:pPr marL="0" indent="0">
              <a:buFont typeface="Arial"/>
              <a:buNone/>
              <a:defRPr/>
            </a:pPr>
            <a:endParaRPr/>
          </a:p>
          <a:p>
            <a:pPr marL="0" indent="0">
              <a:buFont typeface="Arial"/>
              <a:buNone/>
              <a:defRPr/>
            </a:pPr>
            <a:r>
              <a:rPr lang="es-MX"/>
              <a:t>La localidad indica que, es más eficiente consultar datos contiguos en memoria, que dispersos a lo largo del heap, por lo que resulta en una optimización a considerar si la localidad es una característica muy relevante dentro del equipo que almacena nuestros datos.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ONLYOFFICE/8.1.1.27</Application>
  <DocSecurity>0</DocSecurity>
  <PresentationFormat>Widescreen</PresentationFormat>
  <Paragraphs>0</Paragraphs>
  <Slides>31</Slides>
  <Notes>31</Notes>
  <HiddenSlides>0</HiddenSlides>
  <MMClips>2</MMClips>
  <ScaleCrop>0</ScaleCrop>
  <HeadingPairs>
    <vt:vector size="4" baseType="variant">
      <vt:variant>
        <vt:lpstr>Theme</vt:lpstr>
      </vt:variant>
      <vt:variant>
        <vt:i4>1</vt:i4>
      </vt:variant>
      <vt:variant>
        <vt:lpstr>Slide Titles</vt:lpstr>
      </vt:variant>
      <vt:variant>
        <vt:i4>31</vt:i4>
      </vt:variant>
    </vt:vector>
  </HeadingPairs>
  <TitlesOfParts>
    <vt:vector size="32"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identifier/>
  <dc:language/>
  <cp:lastModifiedBy/>
  <cp:revision>7</cp:revision>
  <dcterms:modified xsi:type="dcterms:W3CDTF">2024-11-23T03:26:08Z</dcterms:modified>
  <cp:category/>
  <cp:contentStatus/>
  <cp:version/>
</cp:coreProperties>
</file>